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2D6E8"/>
                </a:solidFill>
                <a:latin typeface="Aptos"/>
              </a:rPr>
              <a:t>THE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WHEN A VULNERABILITY BECOMES A MISSION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A1AFC6"/>
                </a:solidFill>
                <a:latin typeface="Aptos"/>
              </a:rPr>
              <a:t>Closing the gap between vulnerability detection and verified remediation.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A1AFC6"/>
                </a:solidFill>
                <a:latin typeface="Aptos"/>
              </a:rPr>
              <a:t>TRUSTSHIELD-C2  •  AI KAVACH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/>
            <a:r>
              <a:rPr sz="800" b="1">
                <a:solidFill>
                  <a:srgbClr val="A1AFC6"/>
                </a:solidFill>
                <a:latin typeface="Aptos"/>
              </a:rPr>
              <a:t>01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5166360" cy="4343400"/>
          </a:xfrm>
          <a:prstGeom prst="roundRect">
            <a:avLst/>
          </a:prstGeom>
          <a:solidFill>
            <a:srgbClr val="0F1726"/>
          </a:solidFill>
          <a:ln>
            <a:solidFill>
              <a:srgbClr val="0F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28016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FF5C5C"/>
                </a:solidFill>
                <a:latin typeface="Aptos"/>
              </a:rPr>
              <a:t>THE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48056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900" b="1">
                <a:solidFill>
                  <a:srgbClr val="F2F6FC"/>
                </a:solidFill>
                <a:latin typeface="Aptos"/>
              </a:rPr>
              <a:t>Security tools can identify weaknesses.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438912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A1AFC6"/>
                </a:solidFill>
                <a:latin typeface="Aptos"/>
              </a:rPr>
              <a:t>But the complete journey is often fragmented: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10128"/>
            <a:ext cx="1307592" cy="438912"/>
          </a:xfrm>
          <a:prstGeom prst="roundRect">
            <a:avLst/>
          </a:prstGeom>
          <a:solidFill>
            <a:srgbClr val="141F32"/>
          </a:solidFill>
          <a:ln>
            <a:solidFill>
              <a:srgbClr val="28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92424"/>
            <a:ext cx="1307592" cy="21031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2F6FC"/>
                </a:solidFill>
                <a:latin typeface="Aptos"/>
              </a:rPr>
              <a:t>Detect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0008" y="3310128"/>
            <a:ext cx="1307592" cy="438912"/>
          </a:xfrm>
          <a:prstGeom prst="roundRect">
            <a:avLst/>
          </a:prstGeom>
          <a:solidFill>
            <a:srgbClr val="141F32"/>
          </a:solidFill>
          <a:ln>
            <a:solidFill>
              <a:srgbClr val="28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0008" y="3392424"/>
            <a:ext cx="1307592" cy="21031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2F6FC"/>
                </a:solidFill>
                <a:latin typeface="Aptos"/>
              </a:rPr>
              <a:t>Investigate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1336" y="3310128"/>
            <a:ext cx="1307592" cy="438912"/>
          </a:xfrm>
          <a:prstGeom prst="roundRect">
            <a:avLst/>
          </a:prstGeom>
          <a:solidFill>
            <a:srgbClr val="141F32"/>
          </a:solidFill>
          <a:ln>
            <a:solidFill>
              <a:srgbClr val="28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31336" y="3392424"/>
            <a:ext cx="1307592" cy="21031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2F6FC"/>
                </a:solidFill>
                <a:latin typeface="Aptos"/>
              </a:rPr>
              <a:t>Reproduce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968496"/>
            <a:ext cx="1307592" cy="438912"/>
          </a:xfrm>
          <a:prstGeom prst="roundRect">
            <a:avLst/>
          </a:prstGeom>
          <a:solidFill>
            <a:srgbClr val="141F32"/>
          </a:solidFill>
          <a:ln>
            <a:solidFill>
              <a:srgbClr val="28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50791"/>
            <a:ext cx="1307592" cy="21031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2F6FC"/>
                </a:solidFill>
                <a:latin typeface="Aptos"/>
              </a:rPr>
              <a:t>Fix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50008" y="3968496"/>
            <a:ext cx="1307592" cy="438912"/>
          </a:xfrm>
          <a:prstGeom prst="roundRect">
            <a:avLst/>
          </a:prstGeom>
          <a:solidFill>
            <a:srgbClr val="141F32"/>
          </a:solidFill>
          <a:ln>
            <a:solidFill>
              <a:srgbClr val="2837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0008" y="4050791"/>
            <a:ext cx="1307592" cy="21031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F2F6FC"/>
                </a:solidFill>
                <a:latin typeface="Aptos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19472"/>
            <a:ext cx="4480560" cy="6400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600" b="1">
                <a:solidFill>
                  <a:srgbClr val="F5C248"/>
                </a:solidFill>
                <a:latin typeface="Aptos"/>
              </a:rPr>
              <a:t>Finding a vulnerability is not the same</a:t>
            </a:r>
            <a:br/>
            <a:r>
              <a:t>as proving it is fixed.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737360"/>
            <a:ext cx="5577840" cy="4343400"/>
          </a:xfrm>
          <a:prstGeom prst="roundRect">
            <a:avLst/>
          </a:prstGeom>
          <a:solidFill>
            <a:srgbClr val="141F32"/>
          </a:solidFill>
          <a:ln>
            <a:solidFill>
              <a:srgbClr val="14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011680"/>
            <a:ext cx="18288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BE191"/>
                </a:solidFill>
                <a:latin typeface="Aptos"/>
              </a:rPr>
              <a:t>THE 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359152"/>
            <a:ext cx="4754880" cy="4114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2500" b="1">
                <a:solidFill>
                  <a:srgbClr val="F2F6FC"/>
                </a:solidFill>
                <a:latin typeface="Aptos"/>
              </a:rPr>
              <a:t>TRUSTSHIELD-C2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834640"/>
            <a:ext cx="466344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300" b="0">
                <a:solidFill>
                  <a:srgbClr val="A1AFC6"/>
                </a:solidFill>
                <a:latin typeface="Aptos"/>
              </a:rPr>
              <a:t>Autonomous Cyber-Reasoning for Mission-Critical 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657600"/>
            <a:ext cx="1051560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400" b="1">
                <a:solidFill>
                  <a:srgbClr val="42D6E8"/>
                </a:solidFill>
                <a:latin typeface="Aptos"/>
              </a:rPr>
              <a:t>LLM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3657600"/>
            <a:ext cx="1051560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400" b="1">
                <a:solidFill>
                  <a:srgbClr val="F2F6FC"/>
                </a:solidFill>
                <a:latin typeface="Aptos"/>
              </a:rPr>
              <a:t>SAST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657600"/>
            <a:ext cx="1051560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400" b="1">
                <a:solidFill>
                  <a:srgbClr val="F2F6FC"/>
                </a:solidFill>
                <a:latin typeface="Aptos"/>
              </a:rPr>
              <a:t>FUZZ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3657600"/>
            <a:ext cx="914400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400" b="1">
                <a:solidFill>
                  <a:srgbClr val="F2F6FC"/>
                </a:solidFill>
                <a:latin typeface="Aptos"/>
              </a:rPr>
              <a:t>DAST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A1AFC6"/>
                </a:solidFill>
                <a:latin typeface="Aptos"/>
              </a:rPr>
              <a:t>REGRESSION  •  SANDBOX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919472"/>
            <a:ext cx="466344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200" b="1">
                <a:solidFill>
                  <a:srgbClr val="4BE191"/>
                </a:solidFill>
                <a:latin typeface="Aptos"/>
              </a:rPr>
              <a:t>DISCOVER  →  REASON  →  REMEDIATE  →  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486400"/>
            <a:ext cx="466344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000" b="0">
                <a:solidFill>
                  <a:srgbClr val="F2F6FC"/>
                </a:solidFill>
                <a:latin typeface="Aptos"/>
              </a:rPr>
              <a:t>From vulnerability detection to evidence-backed remediation.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2D6E8"/>
                </a:solidFill>
                <a:latin typeface="Aptos"/>
              </a:rPr>
              <a:t>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FROM VULNERABILITY TO VERIFIED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A1AFC6"/>
                </a:solidFill>
                <a:latin typeface="Aptos"/>
              </a:rPr>
              <a:t>A closed-loop workflow designed to reduce manual correlation and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A1AFC6"/>
                </a:solidFill>
                <a:latin typeface="Aptos"/>
              </a:rPr>
              <a:t>TRUSTSHIELD-C2  •  AI KAVACH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/>
            <a:r>
              <a:rPr sz="800" b="1">
                <a:solidFill>
                  <a:srgbClr val="A1AFC6"/>
                </a:solidFill>
                <a:latin typeface="Aptos"/>
              </a:rPr>
              <a:t>02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19072"/>
            <a:ext cx="1874519" cy="1737360"/>
          </a:xfrm>
          <a:prstGeom prst="roundRect">
            <a:avLst/>
          </a:prstGeom>
          <a:solidFill>
            <a:srgbClr val="0F1726"/>
          </a:solidFill>
          <a:ln>
            <a:solidFill>
              <a:srgbClr val="25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56231"/>
            <a:ext cx="4114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57984"/>
            <a:ext cx="1600199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2F6FC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1600199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BE191"/>
                </a:solidFill>
                <a:latin typeface="Aptos"/>
              </a:rPr>
              <a:t>SAST + intelligent fuzzing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79776"/>
            <a:ext cx="1600199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0">
                <a:solidFill>
                  <a:srgbClr val="A1AFC6"/>
                </a:solidFill>
                <a:latin typeface="Aptos"/>
              </a:rPr>
              <a:t>Find suspicious code paths and behaviour.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719072"/>
            <a:ext cx="1874519" cy="1737360"/>
          </a:xfrm>
          <a:prstGeom prst="roundRect">
            <a:avLst/>
          </a:prstGeom>
          <a:solidFill>
            <a:srgbClr val="0F1726"/>
          </a:solidFill>
          <a:ln>
            <a:solidFill>
              <a:srgbClr val="25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1856231"/>
            <a:ext cx="4114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157984"/>
            <a:ext cx="1600199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2F6FC"/>
                </a:solidFill>
                <a:latin typeface="Aptos"/>
              </a:rPr>
              <a:t>REPRODUCE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2514600"/>
            <a:ext cx="1600199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BE191"/>
                </a:solidFill>
                <a:latin typeface="Aptos"/>
              </a:rPr>
              <a:t>Dynamic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2779776"/>
            <a:ext cx="1600199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0">
                <a:solidFill>
                  <a:srgbClr val="A1AFC6"/>
                </a:solidFill>
                <a:latin typeface="Aptos"/>
              </a:rPr>
              <a:t>Safely reproduce the weakness in isolation.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1719072"/>
            <a:ext cx="1874519" cy="1737360"/>
          </a:xfrm>
          <a:prstGeom prst="roundRect">
            <a:avLst/>
          </a:prstGeom>
          <a:solidFill>
            <a:srgbClr val="0F1726"/>
          </a:solidFill>
          <a:ln>
            <a:solidFill>
              <a:srgbClr val="25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856231"/>
            <a:ext cx="4114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157984"/>
            <a:ext cx="1600199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2F6FC"/>
                </a:solidFill>
                <a:latin typeface="Aptos"/>
              </a:rPr>
              <a:t>REASON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514600"/>
            <a:ext cx="1600199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BE191"/>
                </a:solidFill>
                <a:latin typeface="Aptos"/>
              </a:rPr>
              <a:t>LLM cyber-reasoning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779776"/>
            <a:ext cx="1600199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0">
                <a:solidFill>
                  <a:srgbClr val="A1AFC6"/>
                </a:solidFill>
                <a:latin typeface="Aptos"/>
              </a:rPr>
              <a:t>Correlate code, test and runtime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719072"/>
            <a:ext cx="1874519" cy="1737360"/>
          </a:xfrm>
          <a:prstGeom prst="roundRect">
            <a:avLst/>
          </a:prstGeom>
          <a:solidFill>
            <a:srgbClr val="0F1726"/>
          </a:solidFill>
          <a:ln>
            <a:solidFill>
              <a:srgbClr val="25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856231"/>
            <a:ext cx="4114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157984"/>
            <a:ext cx="1600199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2F6FC"/>
                </a:solidFill>
                <a:latin typeface="Aptos"/>
              </a:rPr>
              <a:t>REMEDIATE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514600"/>
            <a:ext cx="1600199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BE191"/>
                </a:solidFill>
                <a:latin typeface="Aptos"/>
              </a:rPr>
              <a:t>Patch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779776"/>
            <a:ext cx="1600199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0">
                <a:solidFill>
                  <a:srgbClr val="A1AFC6"/>
                </a:solidFill>
                <a:latin typeface="Aptos"/>
              </a:rPr>
              <a:t>Generate a targeted candidate fix.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913632"/>
            <a:ext cx="2240280" cy="1737360"/>
          </a:xfrm>
          <a:prstGeom prst="roundRect">
            <a:avLst/>
          </a:prstGeom>
          <a:solidFill>
            <a:srgbClr val="0F1726"/>
          </a:solidFill>
          <a:ln>
            <a:solidFill>
              <a:srgbClr val="25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50792"/>
            <a:ext cx="4114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52544"/>
            <a:ext cx="196596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2F6FC"/>
                </a:solidFill>
                <a:latin typeface="Aptos"/>
              </a:rPr>
              <a:t>RE-TEST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1965960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BE191"/>
                </a:solidFill>
                <a:latin typeface="Aptos"/>
              </a:rPr>
              <a:t>Security re-test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74336"/>
            <a:ext cx="1965960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0">
                <a:solidFill>
                  <a:srgbClr val="A1AFC6"/>
                </a:solidFill>
                <a:latin typeface="Aptos"/>
              </a:rPr>
              <a:t>Run the original security test again.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88920" y="3913632"/>
            <a:ext cx="2240280" cy="1737360"/>
          </a:xfrm>
          <a:prstGeom prst="roundRect">
            <a:avLst/>
          </a:prstGeom>
          <a:solidFill>
            <a:srgbClr val="0F1726"/>
          </a:solidFill>
          <a:ln>
            <a:solidFill>
              <a:srgbClr val="25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79" y="4050792"/>
            <a:ext cx="4114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79" y="4352544"/>
            <a:ext cx="196596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2F6FC"/>
                </a:solidFill>
                <a:latin typeface="Aptos"/>
              </a:rPr>
              <a:t>REGRESSION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79" y="4709160"/>
            <a:ext cx="1965960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BE191"/>
                </a:solidFill>
                <a:latin typeface="Aptos"/>
              </a:rPr>
              <a:t>Regression harness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79" y="4974336"/>
            <a:ext cx="1965960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0">
                <a:solidFill>
                  <a:srgbClr val="A1AFC6"/>
                </a:solidFill>
                <a:latin typeface="Aptos"/>
              </a:rPr>
              <a:t>Check legitimate functionality remains intact.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3480" y="3913632"/>
            <a:ext cx="2240280" cy="1737360"/>
          </a:xfrm>
          <a:prstGeom prst="roundRect">
            <a:avLst/>
          </a:prstGeom>
          <a:solidFill>
            <a:srgbClr val="0F1726"/>
          </a:solidFill>
          <a:ln>
            <a:solidFill>
              <a:srgbClr val="253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4050792"/>
            <a:ext cx="4114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4352544"/>
            <a:ext cx="196596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200" b="1">
                <a:solidFill>
                  <a:srgbClr val="F2F6FC"/>
                </a:solidFill>
                <a:latin typeface="Aptos"/>
              </a:rPr>
              <a:t>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709160"/>
            <a:ext cx="1965960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BE191"/>
                </a:solidFill>
                <a:latin typeface="Aptos"/>
              </a:rPr>
              <a:t>Evidence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4974336"/>
            <a:ext cx="1965960" cy="4572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0">
                <a:solidFill>
                  <a:srgbClr val="A1AFC6"/>
                </a:solidFill>
                <a:latin typeface="Aptos"/>
              </a:rPr>
              <a:t>Accept only when evidence supports the fix.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42032" y="2359152"/>
            <a:ext cx="22860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700" b="1">
                <a:solidFill>
                  <a:srgbClr val="42D6E8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36592" y="2359152"/>
            <a:ext cx="22860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700" b="1">
                <a:solidFill>
                  <a:srgbClr val="42D6E8"/>
                </a:solidFill>
                <a:latin typeface="Aptos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1152" y="2359152"/>
            <a:ext cx="22860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700" b="1">
                <a:solidFill>
                  <a:srgbClr val="42D6E8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5712" y="2359152"/>
            <a:ext cx="22860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700" b="1">
                <a:solidFill>
                  <a:srgbClr val="42D6E8"/>
                </a:solidFill>
                <a:latin typeface="Aptos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897880"/>
            <a:ext cx="10972800" cy="393192"/>
          </a:xfrm>
          <a:prstGeom prst="roundRect">
            <a:avLst/>
          </a:prstGeom>
          <a:solidFill>
            <a:srgbClr val="141F32"/>
          </a:solidFill>
          <a:ln>
            <a:solidFill>
              <a:srgbClr val="14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980176"/>
            <a:ext cx="10698480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100" b="1">
                <a:solidFill>
                  <a:srgbClr val="F2F6FC"/>
                </a:solidFill>
                <a:latin typeface="Aptos"/>
              </a:rPr>
              <a:t>FAIL  →  REASON AGAIN        •        PASS  →  VERIFIED FIX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2D6E8"/>
                </a:solidFill>
                <a:latin typeface="Aptos"/>
              </a:rPr>
              <a:t>INSIDE THE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EVIDENCE IN. VERIFIED REMEDIATION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A1AFC6"/>
                </a:solidFill>
                <a:latin typeface="Aptos"/>
              </a:rPr>
              <a:t>Insert your 20–30 second product-demo video in the main frame.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A1AFC6"/>
                </a:solidFill>
                <a:latin typeface="Aptos"/>
              </a:rPr>
              <a:t>TRUSTSHIELD-C2  •  AI KAVACH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/>
            <a:r>
              <a:rPr sz="800" b="1">
                <a:solidFill>
                  <a:srgbClr val="A1AFC6"/>
                </a:solidFill>
                <a:latin typeface="Aptos"/>
              </a:rPr>
              <a:t>03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64208"/>
            <a:ext cx="7818120" cy="4526280"/>
          </a:xfrm>
          <a:prstGeom prst="roundRect">
            <a:avLst/>
          </a:prstGeom>
          <a:solidFill>
            <a:srgbClr val="050911"/>
          </a:solidFill>
          <a:ln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4160520" y="3182112"/>
            <a:ext cx="731520" cy="731520"/>
          </a:xfrm>
          <a:prstGeom prst="triangle">
            <a:avLst/>
          </a:prstGeom>
          <a:solidFill>
            <a:srgbClr val="42D6E8"/>
          </a:solidFill>
          <a:ln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4041648"/>
            <a:ext cx="384048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300" b="1">
                <a:solidFill>
                  <a:srgbClr val="F2F6FC"/>
                </a:solidFill>
                <a:latin typeface="Aptos"/>
              </a:rPr>
              <a:t>VIDEO 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685800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/>
            <a:r>
              <a:rPr sz="1000" b="1">
                <a:solidFill>
                  <a:srgbClr val="A1AFC6"/>
                </a:solidFill>
                <a:latin typeface="Aptos"/>
              </a:rPr>
              <a:t>TARGET → EVIDENCE → AI REASONING → PATCH → 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664208"/>
            <a:ext cx="2926080" cy="4526280"/>
          </a:xfrm>
          <a:prstGeom prst="roundRect">
            <a:avLst/>
          </a:prstGeom>
          <a:solidFill>
            <a:srgbClr val="0F1726"/>
          </a:solidFill>
          <a:ln>
            <a:solidFill>
              <a:srgbClr val="0F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87968" y="1938528"/>
            <a:ext cx="242316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BE191"/>
                </a:solidFill>
                <a:latin typeface="Aptos"/>
              </a:rPr>
              <a:t>LIGHTWEIGHT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2450592"/>
            <a:ext cx="2286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BE191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441448"/>
            <a:ext cx="205740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F2F6FC"/>
                </a:solidFill>
                <a:latin typeface="Aptos"/>
              </a:rPr>
              <a:t>Software-only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2907792"/>
            <a:ext cx="2286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BE191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898648"/>
            <a:ext cx="205740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F2F6FC"/>
                </a:solidFill>
                <a:latin typeface="Aptos"/>
              </a:rPr>
              <a:t>Modular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3364992"/>
            <a:ext cx="2286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BE191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355848"/>
            <a:ext cx="205740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F2F6FC"/>
                </a:solidFill>
                <a:latin typeface="Aptos"/>
              </a:rPr>
              <a:t>No training from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3822191"/>
            <a:ext cx="2286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BE191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813048"/>
            <a:ext cx="205740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F2F6FC"/>
                </a:solidFill>
                <a:latin typeface="Aptos"/>
              </a:rPr>
              <a:t>Sandboxed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4279392"/>
            <a:ext cx="2286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BE191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270248"/>
            <a:ext cx="205740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F2F6FC"/>
                </a:solidFill>
                <a:latin typeface="Aptos"/>
              </a:rPr>
              <a:t>Replaceable analysis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4736592"/>
            <a:ext cx="2286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BE191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4727448"/>
            <a:ext cx="205740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F2F6FC"/>
                </a:solidFill>
                <a:latin typeface="Aptos"/>
              </a:rPr>
              <a:t>Target-adapter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8" y="5303520"/>
            <a:ext cx="6400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5522976"/>
            <a:ext cx="233172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00" b="0">
                <a:solidFill>
                  <a:srgbClr val="A1AFC6"/>
                </a:solidFill>
                <a:latin typeface="Aptos"/>
              </a:rPr>
              <a:t>Python • LLM • SAST • Fuzzing</a:t>
            </a:r>
            <a:br/>
            <a:r>
              <a:t>DAST • Sandbox •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6053328"/>
            <a:ext cx="233172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F5C248"/>
                </a:solidFill>
                <a:latin typeface="Aptos"/>
              </a:rPr>
              <a:t>LLM = reasoning layer, not source of truth.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2D6E8"/>
                </a:solidFill>
                <a:latin typeface="Aptos"/>
              </a:rPr>
              <a:t>THE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NOT ANOTHER VULNERABILITY 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A1AFC6"/>
                </a:solidFill>
                <a:latin typeface="Aptos"/>
              </a:rPr>
              <a:t>The system closes the loop instead of stopping at an alert.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A1AFC6"/>
                </a:solidFill>
                <a:latin typeface="Aptos"/>
              </a:rPr>
              <a:t>TRUSTSHIELD-C2  •  AI KAVACH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/>
            <a:r>
              <a:rPr sz="800" b="1">
                <a:solidFill>
                  <a:srgbClr val="A1AFC6"/>
                </a:solidFill>
                <a:latin typeface="Aptos"/>
              </a:rPr>
              <a:t>04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3429000" cy="2395728"/>
          </a:xfrm>
          <a:prstGeom prst="roundRect">
            <a:avLst/>
          </a:prstGeom>
          <a:solidFill>
            <a:srgbClr val="0F1726"/>
          </a:solidFill>
          <a:ln>
            <a:solidFill>
              <a:srgbClr val="0F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6576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88036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MULTI-EVIDENCE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288036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1">
                <a:solidFill>
                  <a:srgbClr val="4BE191"/>
                </a:solidFill>
                <a:latin typeface="Aptos"/>
              </a:rPr>
              <a:t>CODE + FUZZ +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82112"/>
            <a:ext cx="2880360" cy="6858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A1AFC6"/>
                </a:solidFill>
                <a:latin typeface="Aptos"/>
              </a:rPr>
              <a:t>Correlates independent signals before deciding what a finding means.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737360"/>
            <a:ext cx="3429000" cy="2395728"/>
          </a:xfrm>
          <a:prstGeom prst="roundRect">
            <a:avLst/>
          </a:prstGeom>
          <a:solidFill>
            <a:srgbClr val="0F1726"/>
          </a:solidFill>
          <a:ln>
            <a:solidFill>
              <a:srgbClr val="0F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36576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31720"/>
            <a:ext cx="288036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CLOSED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61488"/>
            <a:ext cx="288036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1">
                <a:solidFill>
                  <a:srgbClr val="4BE191"/>
                </a:solidFill>
                <a:latin typeface="Aptos"/>
              </a:rPr>
              <a:t>FIND → PATCH → TEST →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182112"/>
            <a:ext cx="2880360" cy="6858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A1AFC6"/>
                </a:solidFill>
                <a:latin typeface="Aptos"/>
              </a:rPr>
              <a:t>Continues through remediation and verification instead of stopping at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737360"/>
            <a:ext cx="3429000" cy="2395728"/>
          </a:xfrm>
          <a:prstGeom prst="roundRect">
            <a:avLst/>
          </a:prstGeom>
          <a:solidFill>
            <a:srgbClr val="0F1726"/>
          </a:solidFill>
          <a:ln>
            <a:solidFill>
              <a:srgbClr val="0F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965960"/>
            <a:ext cx="36576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331720"/>
            <a:ext cx="288036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500" b="1">
                <a:solidFill>
                  <a:srgbClr val="F2F6FC"/>
                </a:solidFill>
                <a:latin typeface="Aptos"/>
              </a:rPr>
              <a:t>EVIDENCE-GATED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761488"/>
            <a:ext cx="2880360" cy="2743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1">
                <a:solidFill>
                  <a:srgbClr val="4BE191"/>
                </a:solidFill>
                <a:latin typeface="Aptos"/>
              </a:rPr>
              <a:t>AI PROPOSES. EVIDENCE PROVES.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3182112"/>
            <a:ext cx="2880360" cy="6858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0">
                <a:solidFill>
                  <a:srgbClr val="A1AFC6"/>
                </a:solidFill>
                <a:latin typeface="Aptos"/>
              </a:rPr>
              <a:t>A generated patch is accepted only after independent security and regression checks.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434840"/>
            <a:ext cx="10972800" cy="1078992"/>
          </a:xfrm>
          <a:prstGeom prst="roundRect">
            <a:avLst/>
          </a:prstGeom>
          <a:solidFill>
            <a:srgbClr val="141F32"/>
          </a:solidFill>
          <a:ln>
            <a:solidFill>
              <a:srgbClr val="42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45152"/>
            <a:ext cx="59436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USP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72000"/>
            <a:ext cx="521208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2000" b="1">
                <a:solidFill>
                  <a:srgbClr val="F2F6FC"/>
                </a:solidFill>
                <a:latin typeface="Aptos"/>
              </a:rPr>
              <a:t>AI PROPOSES. EVIDENCE PROVES.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63440"/>
            <a:ext cx="448056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/>
            <a:r>
              <a:rPr sz="1050" b="1">
                <a:solidFill>
                  <a:srgbClr val="4BE191"/>
                </a:solidFill>
                <a:latin typeface="Aptos"/>
              </a:rPr>
              <a:t>Security re-test  +  regression  +  re-fuzzing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33872"/>
            <a:ext cx="18288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A1AFC6"/>
                </a:solidFill>
                <a:latin typeface="Aptos"/>
              </a:rPr>
              <a:t>CONVENTIONAL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53328"/>
            <a:ext cx="50292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0">
                <a:solidFill>
                  <a:srgbClr val="F2F6FC"/>
                </a:solidFill>
                <a:latin typeface="Aptos"/>
              </a:rPr>
              <a:t>Alert → human correlation → manual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833872"/>
            <a:ext cx="22860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/>
            <a:r>
              <a:rPr sz="850" b="1">
                <a:solidFill>
                  <a:srgbClr val="A1AFC6"/>
                </a:solidFill>
                <a:latin typeface="Aptos"/>
              </a:rPr>
              <a:t>TRUSTSHIELD-C2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6053328"/>
            <a:ext cx="48463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/>
            <a:r>
              <a:rPr sz="950" b="1">
                <a:solidFill>
                  <a:srgbClr val="4BE191"/>
                </a:solidFill>
                <a:latin typeface="Aptos"/>
              </a:rPr>
              <a:t>Alert → evidence → remediation → proof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2D6E8"/>
                </a:solidFill>
                <a:latin typeface="Aptos"/>
              </a:rPr>
              <a:t>THE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2700" b="1">
                <a:solidFill>
                  <a:srgbClr val="F2F6FC"/>
                </a:solidFill>
                <a:latin typeface="Aptos"/>
              </a:rPr>
              <a:t>EVERY FIX MUST SURVIVE ITS OWN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25296"/>
            <a:ext cx="10972800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0">
                <a:solidFill>
                  <a:srgbClr val="A1AFC6"/>
                </a:solidFill>
                <a:latin typeface="Aptos"/>
              </a:rPr>
              <a:t>Prototype deliverables and measurable evaluation objectives.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00" b="1">
                <a:solidFill>
                  <a:srgbClr val="A1AFC6"/>
                </a:solidFill>
                <a:latin typeface="Aptos"/>
              </a:rPr>
              <a:t>TRUSTSHIELD-C2  •  AI KAVACH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/>
            <a:r>
              <a:rPr sz="800" b="1">
                <a:solidFill>
                  <a:srgbClr val="A1AFC6"/>
                </a:solidFill>
                <a:latin typeface="Aptos"/>
              </a:rPr>
              <a:t>05 /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82496"/>
            <a:ext cx="6720840" cy="621792"/>
          </a:xfrm>
          <a:prstGeom prst="roundRect">
            <a:avLst/>
          </a:prstGeom>
          <a:solidFill>
            <a:srgbClr val="0F1726"/>
          </a:solidFill>
          <a:ln>
            <a:solidFill>
              <a:srgbClr val="0F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47088"/>
            <a:ext cx="36576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792224"/>
            <a:ext cx="23317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1">
                <a:solidFill>
                  <a:srgbClr val="F2F6FC"/>
                </a:solidFill>
                <a:latin typeface="Aptos"/>
              </a:rPr>
              <a:t>SIMULATED C2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338328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30" b="0">
                <a:solidFill>
                  <a:srgbClr val="A1AFC6"/>
                </a:solidFill>
                <a:latin typeface="Aptos"/>
              </a:rPr>
              <a:t>Controlled software environment with intentionally introduced test vulnerabilities.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68880"/>
            <a:ext cx="6720840" cy="621792"/>
          </a:xfrm>
          <a:prstGeom prst="roundRect">
            <a:avLst/>
          </a:prstGeom>
          <a:solidFill>
            <a:srgbClr val="0F1726"/>
          </a:solidFill>
          <a:ln>
            <a:solidFill>
              <a:srgbClr val="0F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633472"/>
            <a:ext cx="36576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578608"/>
            <a:ext cx="23317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1">
                <a:solidFill>
                  <a:srgbClr val="F2F6FC"/>
                </a:solidFill>
                <a:latin typeface="Aptos"/>
              </a:rPr>
              <a:t>AUTONOMOUS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69464"/>
            <a:ext cx="338328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30" b="0">
                <a:solidFill>
                  <a:srgbClr val="A1AFC6"/>
                </a:solidFill>
                <a:latin typeface="Aptos"/>
              </a:rPr>
              <a:t>SAST + fuzzing + dynamic analysis + LLM reasoning.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55264"/>
            <a:ext cx="6720840" cy="621792"/>
          </a:xfrm>
          <a:prstGeom prst="roundRect">
            <a:avLst/>
          </a:prstGeom>
          <a:solidFill>
            <a:srgbClr val="0F1726"/>
          </a:solidFill>
          <a:ln>
            <a:solidFill>
              <a:srgbClr val="0F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419856"/>
            <a:ext cx="36576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364992"/>
            <a:ext cx="23317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1">
                <a:solidFill>
                  <a:srgbClr val="F2F6FC"/>
                </a:solidFill>
                <a:latin typeface="Aptos"/>
              </a:rPr>
              <a:t>REMEDIATION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355848"/>
            <a:ext cx="338328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30" b="0">
                <a:solidFill>
                  <a:srgbClr val="A1AFC6"/>
                </a:solidFill>
                <a:latin typeface="Aptos"/>
              </a:rPr>
              <a:t>Candidate patch generation and sandboxed application.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041648"/>
            <a:ext cx="6720840" cy="621792"/>
          </a:xfrm>
          <a:prstGeom prst="roundRect">
            <a:avLst/>
          </a:prstGeom>
          <a:solidFill>
            <a:srgbClr val="0F1726"/>
          </a:solidFill>
          <a:ln>
            <a:solidFill>
              <a:srgbClr val="0F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06240"/>
            <a:ext cx="36576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151376"/>
            <a:ext cx="23317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1">
                <a:solidFill>
                  <a:srgbClr val="F2F6FC"/>
                </a:solidFill>
                <a:latin typeface="Aptos"/>
              </a:rPr>
              <a:t>VERIFICATION 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142232"/>
            <a:ext cx="338328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30" b="0">
                <a:solidFill>
                  <a:srgbClr val="A1AFC6"/>
                </a:solidFill>
                <a:latin typeface="Aptos"/>
              </a:rPr>
              <a:t>Security re-test + regression + re-fuzzing.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28032"/>
            <a:ext cx="6720840" cy="621792"/>
          </a:xfrm>
          <a:prstGeom prst="roundRect">
            <a:avLst/>
          </a:prstGeom>
          <a:solidFill>
            <a:srgbClr val="0F1726"/>
          </a:solidFill>
          <a:ln>
            <a:solidFill>
              <a:srgbClr val="0F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992624"/>
            <a:ext cx="36576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00" b="1">
                <a:solidFill>
                  <a:srgbClr val="42D6E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937760"/>
            <a:ext cx="23317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950" b="1">
                <a:solidFill>
                  <a:srgbClr val="F2F6FC"/>
                </a:solidFill>
                <a:latin typeface="Aptos"/>
              </a:rPr>
              <a:t>EVIDENCE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928616"/>
            <a:ext cx="3383280" cy="3840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30" b="0">
                <a:solidFill>
                  <a:srgbClr val="A1AFC6"/>
                </a:solidFill>
                <a:latin typeface="Aptos"/>
              </a:rPr>
              <a:t>Finding → root cause → patch → test results → verdict.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1682496"/>
            <a:ext cx="3977639" cy="4553712"/>
          </a:xfrm>
          <a:prstGeom prst="roundRect">
            <a:avLst/>
          </a:prstGeom>
          <a:solidFill>
            <a:srgbClr val="141F32"/>
          </a:solidFill>
          <a:ln>
            <a:solidFill>
              <a:srgbClr val="14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82127" y="1938528"/>
            <a:ext cx="338328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100" b="1">
                <a:solidFill>
                  <a:srgbClr val="4BE191"/>
                </a:solidFill>
                <a:latin typeface="Aptos"/>
              </a:rPr>
              <a:t>PERFORMANCE 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2450592"/>
            <a:ext cx="118872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2D6E8"/>
                </a:solidFill>
                <a:latin typeface="Aptos"/>
              </a:rPr>
              <a:t>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2441448"/>
            <a:ext cx="2148840" cy="32918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19" b="0">
                <a:solidFill>
                  <a:srgbClr val="F2F6FC"/>
                </a:solidFill>
                <a:latin typeface="Aptos"/>
              </a:rPr>
              <a:t>Time to verified remediation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3072384"/>
            <a:ext cx="118872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2D6E8"/>
                </a:solidFill>
                <a:latin typeface="Aptos"/>
              </a:rPr>
              <a:t>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3063240"/>
            <a:ext cx="2148840" cy="32918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19" b="0">
                <a:solidFill>
                  <a:srgbClr val="F2F6FC"/>
                </a:solidFill>
                <a:latin typeface="Aptos"/>
              </a:rPr>
              <a:t>Confirmed findings vs false positives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3694176"/>
            <a:ext cx="118872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2D6E8"/>
                </a:solidFill>
                <a:latin typeface="Aptos"/>
              </a:rPr>
              <a:t>FUNCTIONALITY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3685032"/>
            <a:ext cx="2148840" cy="32918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19" b="0">
                <a:solidFill>
                  <a:srgbClr val="F2F6FC"/>
                </a:solidFill>
                <a:latin typeface="Aptos"/>
              </a:rPr>
              <a:t>Fix without breaking legitimate behaviour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4315968"/>
            <a:ext cx="118872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2D6E8"/>
                </a:solidFill>
                <a:latin typeface="Aptos"/>
              </a:rPr>
              <a:t>SCALABILITY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4306824"/>
            <a:ext cx="2148840" cy="32918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19" b="0">
                <a:solidFill>
                  <a:srgbClr val="F2F6FC"/>
                </a:solidFill>
                <a:latin typeface="Aptos"/>
              </a:rPr>
              <a:t>Multiple software modules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4937760"/>
            <a:ext cx="118872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50" b="1">
                <a:solidFill>
                  <a:srgbClr val="42D6E8"/>
                </a:solidFill>
                <a:latin typeface="Aptos"/>
              </a:rPr>
              <a:t>RELIABILITY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4928616"/>
            <a:ext cx="2148840" cy="32918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19" b="0">
                <a:solidFill>
                  <a:srgbClr val="F2F6FC"/>
                </a:solidFill>
                <a:latin typeface="Aptos"/>
              </a:rPr>
              <a:t>Consistent verification across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852160"/>
            <a:ext cx="6766560" cy="25603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1050" b="1">
                <a:solidFill>
                  <a:srgbClr val="F2F6FC"/>
                </a:solidFill>
                <a:latin typeface="Aptos"/>
              </a:rPr>
              <a:t>DISCOVERED ✓  →  PATCHED ✓  →  RE-TESTED ✓  →  VERIFIED 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126480"/>
            <a:ext cx="6583680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/>
            <a:r>
              <a:rPr sz="819" b="0">
                <a:solidFill>
                  <a:srgbClr val="A1AFC6"/>
                </a:solidFill>
                <a:latin typeface="Aptos"/>
              </a:rPr>
              <a:t>Controlled simulation  •  Modular  •  Adaptable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